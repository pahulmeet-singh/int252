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-777240"/>
            <a:ext cx="3749040" cy="3749040"/>
          </a:xfrm>
          <a:prstGeom prst="ellipse">
            <a:avLst/>
          </a:prstGeom>
          <a:solidFill>
            <a:srgbClr val="1B3C68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-91440"/>
            <a:ext cx="2377440" cy="2377440"/>
          </a:xfrm>
          <a:prstGeom prst="ellipse">
            <a:avLst/>
          </a:prstGeom>
          <a:solidFill>
            <a:srgbClr val="3FBE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·  COMPONENT DESIGN AND STYLING IN REACT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Design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Styling in React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reusable, well-structured components — and styling them with Tailwind CSS, responsively and accessibly.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40080" y="4983480"/>
            <a:ext cx="1188720" cy="0"/>
          </a:xfrm>
          <a:prstGeom prst="line">
            <a:avLst/>
          </a:prstGeom>
          <a:noFill/>
          <a:ln w="38100">
            <a:solidFill>
              <a:srgbClr val="3FB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· Lecture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Parts: Design It, Then Style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COMPONENT DESIGN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STYLING IN REACT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379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components, revisited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04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Props-driven reusability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composition patterns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38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 abstractions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105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 strategies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672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state up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5276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responsibility boundaries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3640" y="1874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18379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approaches in React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24414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404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fundamentals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3640" y="3008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methodology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63640" y="35753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3538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&amp; breakpoints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6364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63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4105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styling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63640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63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4672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fundamentals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63640" y="5276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92B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636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676656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in React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-777240"/>
            <a:ext cx="3749040" cy="3749040"/>
          </a:xfrm>
          <a:prstGeom prst="ellipse">
            <a:avLst/>
          </a:prstGeom>
          <a:solidFill>
            <a:srgbClr val="1B3C68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-91440"/>
            <a:ext cx="2377440" cy="2377440"/>
          </a:xfrm>
          <a:prstGeom prst="ellipse">
            <a:avLst/>
          </a:prstGeom>
          <a:solidFill>
            <a:srgbClr val="3FBE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5176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Design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shape components that are reusable, composable, and easy to reason about — from props to state to responsibility boundaries.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Components, Revisited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reusable piece of UI starts as a function that accepts props and returns JSX. Unit 2 builds directly on this foundation.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331720"/>
            <a:ext cx="50657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Avatar({ src, alt }) {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&lt;img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className="avatar"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src={src}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alt={alt}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21488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read-only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53288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never modifies its own props — data flows one way, from parent to child.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33832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keeps it clean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76732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Avatar({ src, alt }) is the idiomatic way to read props out of the props object.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4617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function, many renders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500176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 definition produces different output for every combination of props it receives.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Props-Driven Component Reusability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props turn one component definition into many different UI outcomes — without duplicating markup.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6583680" cy="2743200"/>
          </a:xfrm>
          <a:prstGeom prst="roundRect">
            <a:avLst>
              <a:gd name="adj" fmla="val 2000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286000"/>
            <a:ext cx="60716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Button({ label, variant, onClick }) {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className={`btn btn-${variant}`}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onClick={onClick}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{label}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4983480"/>
            <a:ext cx="6583680" cy="1188720"/>
          </a:xfrm>
          <a:prstGeom prst="roundRect">
            <a:avLst>
              <a:gd name="adj" fmla="val 4615"/>
            </a:avLst>
          </a:prstGeom>
          <a:solidFill>
            <a:srgbClr val="0E2E4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5166360"/>
            <a:ext cx="6071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label="Save" variant="primary" /&gt;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label="Cancel" variant="secondary" /&gt;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label="Delete" variant="danger" /&gt;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COMPONENT, THREE LOOKS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256032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274320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B1F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variant="primary"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361188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379476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E5E9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variant="secondary"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466344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48463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4846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4846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variant="danger"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5806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JSX, same logic — only the prop values change between calls.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Composition Patterns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giant configurable component, React favors composing small components together — often via the special children prop.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577840" cy="3931920"/>
          </a:xfrm>
          <a:prstGeom prst="roundRect">
            <a:avLst>
              <a:gd name="adj" fmla="val 1395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331720"/>
            <a:ext cx="50657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Card({ children }) {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className="card"&gt;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&lt;h2&gt;Profile&lt;/h2&gt;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&lt;p&gt;Frontend Developer&lt;/p&gt;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&lt;/Card&gt;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21488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2514600"/>
            <a:ext cx="4617720" cy="2468880"/>
          </a:xfrm>
          <a:prstGeom prst="roundRect">
            <a:avLst>
              <a:gd name="adj" fmla="val 2963"/>
            </a:avLst>
          </a:prstGeom>
          <a:solidFill>
            <a:srgbClr val="0B1F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2651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95160" y="3063240"/>
            <a:ext cx="4069080" cy="1691640"/>
          </a:xfrm>
          <a:prstGeom prst="roundRect">
            <a:avLst>
              <a:gd name="adj" fmla="val 4324"/>
            </a:avLst>
          </a:prstGeom>
          <a:ln w="15875">
            <a:solidFill>
              <a:srgbClr val="6E86A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132320" y="3182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{children}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78040" y="352044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1E92B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3520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&lt;h2&gt;Profile&lt;/h2&gt;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78040" y="416052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8FC7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4160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&lt;p&gt;Frontend Developer&lt;/p&gt;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54864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nest inside &lt;Card&gt;...&lt;/Card&gt; becomes its children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Component Abstractions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abstractions capture what's common across many use cases while leaving room for what's different.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23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repetition first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abstraction after you've written similar UI two or three times — not before you need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23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minimal prop interface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0175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only the props consumers actually need. Avoid one component that tries to do everything.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80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sensible defaults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defaults like variant = 'primary' so the simplest use case stays simple to call.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480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Compose, don't clone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smaller components inside bigger ones instead of copy-pasting similar markup.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Rendering Strategies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Operator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0574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{isLoggedIn &amp;&amp; 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&lt;p&gt;Welcome back!&lt;/p&gt;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99008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element only when the condition is truthy; renders nothing otherwise.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508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B1F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20574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{isLoggedIn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&lt;Dashboard /&gt;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&lt;LoginForm /&gt;}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99008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an either/or choice between two elements.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31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B1F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" y="448056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(loading)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&lt;Spinner /&gt;;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41324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main return clean by handling edge cases first.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931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Variables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72200" y="429768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B1F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448056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content = &lt;List /&gt;;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(error)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 = &lt;ErrorMsg /&gt;;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541324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logic is too complex for an inline expression.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Lifting State Up in Component Hierarchies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components need to share the same changing data, move that state up to their closest common parent.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2240280" y="233172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4028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&lt;Parent /&gt; { value 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46120" y="2880360"/>
            <a:ext cx="0" cy="27432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3154680"/>
            <a:ext cx="3566160" cy="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154680"/>
            <a:ext cx="0" cy="22860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3154680"/>
            <a:ext cx="0" cy="228600"/>
          </a:xfrm>
          <a:prstGeom prst="line">
            <a:avLst/>
          </a:prstGeom>
          <a:noFill/>
          <a:ln w="19050">
            <a:solidFill>
              <a:srgbClr val="455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8328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1E92B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/&gt;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11880" y="338328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1E92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&lt;Display /&gt;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down ↓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63040" y="4389120"/>
            <a:ext cx="3566160" cy="0"/>
          </a:xfrm>
          <a:prstGeom prst="line">
            <a:avLst/>
          </a:prstGeom>
          <a:noFill/>
          <a:ln w="19050">
            <a:solidFill>
              <a:srgbClr val="1E92B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463040" y="4389120"/>
            <a:ext cx="0" cy="-228600"/>
          </a:xfrm>
          <a:prstGeom prst="line">
            <a:avLst/>
          </a:prstGeom>
          <a:noFill/>
          <a:ln w="19050">
            <a:solidFill>
              <a:srgbClr val="1E92BD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↑  (events up)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2011680"/>
            <a:ext cx="5486400" cy="2743200"/>
          </a:xfrm>
          <a:prstGeom prst="roundRect">
            <a:avLst>
              <a:gd name="adj" fmla="val 2667"/>
            </a:avLst>
          </a:prstGeom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0574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0B1F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Parent() 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[value, setValue] = useState('');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value={value}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onChange={setValue}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&lt;Display value={value} /&gt;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Component Responsibility Boundaries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should have one clear job. Clear boundaries make components easier to test, reuse, and reason about.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Component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“smart” — owns logic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and manages state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and when to render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data and handlers down as props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carries little or no styling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Presentational Component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34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“dumb” — owns markup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33756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data purely through props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rendering markup and styling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idea where its data came from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reuse and test in isolation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-777240"/>
            <a:ext cx="3749040" cy="3749040"/>
          </a:xfrm>
          <a:prstGeom prst="ellipse">
            <a:avLst/>
          </a:prstGeom>
          <a:solidFill>
            <a:srgbClr val="1B3C68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-91440"/>
            <a:ext cx="2377440" cy="2377440"/>
          </a:xfrm>
          <a:prstGeom prst="ellipse">
            <a:avLst/>
          </a:prstGeom>
          <a:solidFill>
            <a:srgbClr val="3FBE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5176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in React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choosing a styling approach to building responsive, accessible interfaces with Tailwind CSS.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 Approaches in React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 / CSS Modules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.css file per component, scoped class names.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Familiar, zero setup, scoped by default (Modules).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style={{ color: 'blue' }} directly on elements.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889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for dynamic, one-off values; no pseudo-classes.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80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styled-components or Emotion generate scoped CSS.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29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Colocated styles, dynamic theming, extra runtime cost.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B1F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4023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80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Utility classes composed directly in markup.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029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write, consistent design tokens, no naming.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focuses on Tailwind CSS — the utility-first approach used throughout the rest of the course.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 Fundamentals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provides low-level utility classes you compose directly in your markup, instead of writing separate CSS files.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201400" cy="1554480"/>
          </a:xfrm>
          <a:prstGeom prst="roundRect">
            <a:avLst>
              <a:gd name="adj" fmla="val 3529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377440"/>
            <a:ext cx="10689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className="px-4 py-2 bg-blue-600 text-white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rounded-lg hover:bg-blue-700"&gt;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 Changes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977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297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p-4 · px-4 · py-2 · m-2 · gap-4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994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Padding, margin, and gap using a consistent numeric scale.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977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297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bg-blue-600 · text-white · border-gray-300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5994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Backgrounds, text, and borders from a full color palette.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212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532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text-lg · font-bold · leading-relaxed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8338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size, weight, and line height utilities.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5212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5532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· grid · w-full · items-center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58338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sizing, and alignment utilities.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Utility-First Styling Methodology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an element's look from many small utility classes instead of inventing a new custom CSS rule for it.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5349240" cy="2514600"/>
          </a:xfrm>
          <a:prstGeom prst="roundRect">
            <a:avLst>
              <a:gd name="adj" fmla="val 2182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651760"/>
            <a:ext cx="48371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styles.css */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16px;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white;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1px 3px #0002;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className="card"&gt;...&lt;/div&gt;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(TAILWIND)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49240" cy="2514600"/>
          </a:xfrm>
          <a:prstGeom prst="roundRect">
            <a:avLst>
              <a:gd name="adj" fmla="val 2182"/>
            </a:avLst>
          </a:prstGeom>
          <a:solidFill>
            <a:srgbClr val="0E2E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65392" y="2651760"/>
            <a:ext cx="48371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className="p-4 rounded-lg bg-white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shadow-md"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525780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2578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naming struggles, and styles stay colocated with markup — but long class lists can get hard to scan, so repeated patterns get extracted into components, coming up shortly.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 With Tailwind Breakpoints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is mobile-first: unprefixed utilities apply to every screen size; prefixed utilities override at that width and up.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103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03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DEVICE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sm: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606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640px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phones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5577840" cy="457200"/>
          </a:xfrm>
          <a:prstGeom prst="rect">
            <a:avLst/>
          </a:prstGeom>
          <a:solidFill>
            <a:srgbClr val="EEF2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lg: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520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1024px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5577840" cy="457200"/>
          </a:xfrm>
          <a:prstGeom prst="rect">
            <a:avLst/>
          </a:prstGeom>
          <a:solidFill>
            <a:srgbClr val="EEF2F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xl: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1280px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434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2xl: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1536px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screens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24231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0B1F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11112" y="2606040"/>
            <a:ext cx="4837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className="text-sm md:text-base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lg:text-lg lg:flex lg:gap-4"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7091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text and a stacked layout by default; larger text and a flex row once the screen reaches the lg breakpoint.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STYLES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UI Styling Patterns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utility class strings get hard to manage — extract the pattern into a component instead of repeating it.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6400800" cy="4160520"/>
          </a:xfrm>
          <a:prstGeom prst="roundRect">
            <a:avLst>
              <a:gd name="adj" fmla="val 1319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286000"/>
            <a:ext cx="588873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Button({ variant = 'primary' })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styles =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primary: 'bg-blue-600 text-white',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secondary: 'bg-gray-200 text-gray-900',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className={`px-4 py-2 rounded-lg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${styles[variant]}`}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 me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103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don't repeat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48716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three components share the same class string, that string belongs inside a shared component.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3337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variant maps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372160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style-per-variant objects in one place so a design tweak only needs one edit.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4572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classes safely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9560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like clsx or classnames combine conditional classes cleanly.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Fundamentals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00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element for the job — button, nav, header — not a div for everything.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8745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9900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interactive element should be reachable and usable with Tab and Enter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18745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Contrast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9900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needs enough contrast against its background to stay readable for everyone.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434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458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need meaningful alt text, or an empty alt="" when purely decorative.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3434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Styles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5458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remove outline: none without providing a clearly visible replacement.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6676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43434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B1F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When Needed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54589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ARIA attributes to fill gaps only when semantic HTML alone isn't enough.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QUALITY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 Practices in React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45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and screen readers already understand semantic tags — using them correctly gives you accessibility for free.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651760"/>
            <a:ext cx="4837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onClick={submit}&gt;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Submit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className="header"&gt;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0E2E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65392" y="2651760"/>
            <a:ext cx="4837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onClick={submit}&gt;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Submit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7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07492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&lt;button&gt; is focusable and keyboard-clickable by default; a &lt;div&gt; is not, unless you add tabIndex and key handlers yourself.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tags — header, nav, main, footer — let assistive tech and browsers navigate the page structure directly.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&lt;label htmlFor="..."&gt; with its &lt;input id="..."&gt; so screen readers announce the connection.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MOVE 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2 —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0B1F3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FBE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134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drive reuse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props let one component serve many needs.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0B1F3F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FBE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134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over configuration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and nesting build flexible UI.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0B1F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FBE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3134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state to the common parent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shared, changing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1600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0B1F3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FBE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3134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component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responsibility boundaries aid testing and reuse.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365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= utility classes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styles directly in markup, no naming.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118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47365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breakpoints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5394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Unprefixed styles apply everywhere; prefixes override up.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7365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repeated patterns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394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class lists become reusable styled components.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44000" y="40233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72600" y="4251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1F3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726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47365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is accessible HTML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9372600" y="5394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tag gives you a11y behavior for free.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754880"/>
            <a:ext cx="3108960" cy="3108960"/>
          </a:xfrm>
          <a:prstGeom prst="ellipse">
            <a:avLst/>
          </a:prstGeom>
          <a:solidFill>
            <a:srgbClr val="1B3C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UNIT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Effects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C3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unit: useEffect, data fetching, custom hooks, and managing side effects the React way.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188720" cy="0"/>
          </a:xfrm>
          <a:prstGeom prst="line">
            <a:avLst/>
          </a:prstGeom>
          <a:noFill/>
          <a:ln w="38100">
            <a:solidFill>
              <a:srgbClr val="3FB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Component Design and Styling in React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2026-09-02T04:30:47Z</dcterms:created>
  <dcterms:modified xsi:type="dcterms:W3CDTF">2026-09-02T04:30:47Z</dcterms:modified>
</cp:coreProperties>
</file>